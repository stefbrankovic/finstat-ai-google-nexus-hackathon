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794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0" y="-548640"/>
            <a:ext cx="2560320" cy="256032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14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474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r>
              <a:rPr lang="sr-Latn-R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AI</a:t>
            </a:r>
          </a:p>
        </p:txBody>
      </p:sp>
      <p:sp>
        <p:nvSpPr>
          <p:cNvPr id="8" name="Text 5"/>
          <p:cNvSpPr/>
          <p:nvPr/>
        </p:nvSpPr>
        <p:spPr>
          <a:xfrm>
            <a:off x="274320" y="11430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u džepu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274320" y="1874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srpskog preduzetnika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274320" y="26974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dirty="0" err="1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finansijski</a:t>
            </a:r>
            <a:r>
              <a:rPr lang="en-US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savetnik</a:t>
            </a:r>
            <a:r>
              <a:rPr lang="en-US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dizajniran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specifično za srpsko tržište.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623560" y="594360"/>
            <a:ext cx="3246120" cy="1234440"/>
          </a:xfrm>
          <a:prstGeom prst="rect">
            <a:avLst/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06440" y="6858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~120.000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806440" y="125272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firmi u Srbiji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23560" y="2057400"/>
            <a:ext cx="3246120" cy="1234440"/>
          </a:xfrm>
          <a:prstGeom prst="rect">
            <a:avLst/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806440" y="21488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806440" y="27157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jeftiniji od </a:t>
            </a:r>
            <a:r>
              <a:rPr lang="en-US" sz="1300" dirty="0" err="1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</a:t>
            </a:r>
            <a:r>
              <a:rPr lang="sr-Latn-RS" sz="13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300" dirty="0" err="1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ultanta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23560" y="3520440"/>
            <a:ext cx="3246120" cy="1234440"/>
          </a:xfrm>
          <a:prstGeom prst="rect">
            <a:avLst/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06440" y="36118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dana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5806440" y="417880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 prognoza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623560" y="4617720"/>
            <a:ext cx="32461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623560" y="4617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Google-Nexus 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</a:t>
            </a:r>
            <a:r>
              <a:rPr lang="sr-Latn-R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Proof of Concept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78892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0299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Finansijska</a:t>
            </a: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magla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2633472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Vlasnik vidi stanje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računu</a:t>
            </a:r>
            <a:r>
              <a:rPr lang="sr-Latn-R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ali mnogi podaci ostaju ispod radara, i potencijalno dovode do iznenadnog rizika.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0" y="118872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0" y="1188720"/>
            <a:ext cx="2788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4173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0299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Regulatorna džungla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337560" y="2633472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eFakture, PDV, zakon o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radu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tehnologije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menjaju.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Advokat</a:t>
            </a:r>
            <a:r>
              <a:rPr lang="sr-Latn-R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pravni savetnici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nisu jeftini, dok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Gugl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često daje zastarele informacije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72200" y="118872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72200" y="1188720"/>
            <a:ext cx="2788920" cy="54864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41732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0299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Propuštene prilike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09360" y="2633472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Milijarde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dinara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stoje 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grantovima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subvencijam</a:t>
            </a:r>
            <a:r>
              <a:rPr lang="sr-Latn-R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dok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lasni</a:t>
            </a:r>
            <a:r>
              <a:rPr lang="sr-Latn-R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mal</a:t>
            </a:r>
            <a:r>
              <a:rPr lang="sr-Latn-R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biznisa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neretko ostaju neobavešteni.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274320" y="472744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preduzetnici u  </a:t>
            </a:r>
            <a:r>
              <a:rPr lang="en-US" sz="12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</a:t>
            </a:r>
            <a:r>
              <a:rPr lang="sr-Latn-RS" sz="12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vakuumu</a:t>
            </a:r>
            <a:r>
              <a:rPr lang="en-US" sz="12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</a:t>
            </a:r>
            <a:r>
              <a:rPr lang="sr-Latn-RS" sz="12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</a:t>
            </a:r>
            <a:r>
              <a:rPr lang="sr-Latn-RS" sz="12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2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</a:t>
            </a:r>
            <a:r>
              <a:rPr lang="en-US" sz="125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</a:t>
            </a:r>
            <a:r>
              <a:rPr lang="sr-Latn-RS" sz="12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</a:t>
            </a:r>
            <a:r>
              <a:rPr lang="en-US" sz="125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</a:t>
            </a:r>
            <a:r>
              <a:rPr lang="en-US" sz="12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 Excel, premali za SAP</a:t>
            </a:r>
            <a:r>
              <a:rPr lang="sr-Latn-RS" sz="12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2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</a:t>
            </a:r>
            <a:r>
              <a:rPr lang="en-US" sz="12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 </a:t>
            </a:r>
            <a:r>
              <a:rPr lang="en-US" sz="12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</a:t>
            </a:r>
            <a:r>
              <a:rPr lang="en-US" sz="125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opslu</a:t>
            </a:r>
            <a:r>
              <a:rPr lang="sr-Latn-RS" sz="12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</a:t>
            </a:r>
            <a:r>
              <a:rPr lang="en-US" sz="125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uje</a:t>
            </a:r>
            <a:r>
              <a:rPr lang="en-US" sz="12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direktno.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Rešenje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ULAZI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554480"/>
            <a:ext cx="1920240" cy="914400"/>
          </a:xfrm>
          <a:prstGeom prst="rect">
            <a:avLst/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7335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1645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Bankovni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račun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82880" y="2633472"/>
            <a:ext cx="1920240" cy="914400"/>
          </a:xfrm>
          <a:prstGeom prst="rect">
            <a:avLst/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752344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2724912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eFakture</a:t>
            </a:r>
            <a:endParaRPr lang="sr-Latn-R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182880" y="3712464"/>
            <a:ext cx="1920240" cy="914400"/>
          </a:xfrm>
          <a:prstGeom prst="rect">
            <a:avLst/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83133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9808" y="3803904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Pravna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legislativa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182880" y="4572000"/>
            <a:ext cx="1920240" cy="384048"/>
          </a:xfrm>
          <a:prstGeom prst="rect">
            <a:avLst/>
          </a:prstGeom>
          <a:solidFill>
            <a:srgbClr val="1A2E45"/>
          </a:solidFill>
          <a:ln w="12700">
            <a:solidFill>
              <a:srgbClr val="A8B9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201168" y="457200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Faza 2: mejlovi, SEF, konkursi...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2697480" y="1417320"/>
            <a:ext cx="3200400" cy="34290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1600200"/>
            <a:ext cx="868680" cy="8686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697480" y="24871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2697480" y="2999232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podataka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NLP analiza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Prognoza</a:t>
            </a:r>
            <a:endParaRPr lang="en-US" sz="1300" dirty="0"/>
          </a:p>
          <a:p>
            <a:pPr marL="0" indent="0" algn="ctr">
              <a:buNone/>
            </a:pPr>
            <a:r>
              <a:rPr lang="sr-Latn-R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Provera zakonske regulative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2103120" y="1975104"/>
            <a:ext cx="5943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2103120" y="3054096"/>
            <a:ext cx="5943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2103120" y="4133088"/>
            <a:ext cx="5943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5897880" y="2121408"/>
            <a:ext cx="5029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5897880" y="3675888"/>
            <a:ext cx="5029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6446520" y="1143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IZLAZI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46520" y="1508760"/>
            <a:ext cx="2468880" cy="1508760"/>
          </a:xfrm>
          <a:prstGeom prst="rect">
            <a:avLst/>
          </a:prstGeom>
          <a:solidFill>
            <a:srgbClr val="243B55"/>
          </a:solidFill>
          <a:ln w="12700">
            <a:solidFill>
              <a:srgbClr val="00F5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392" y="1636776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22592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6565392" y="210312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 prognoza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Upozorenja &amp; saveti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r>
              <a:rPr lang="sr-Latn-RS" sz="11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</a:t>
            </a:r>
            <a:r>
              <a:rPr lang="en-US" sz="11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vizuelizacija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46520" y="3200400"/>
            <a:ext cx="2468880" cy="1508760"/>
          </a:xfrm>
          <a:prstGeom prst="rect">
            <a:avLst/>
          </a:prstGeom>
          <a:solidFill>
            <a:srgbClr val="243B55"/>
          </a:solidFill>
          <a:ln w="12700">
            <a:solidFill>
              <a:srgbClr val="00F5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5392" y="3328416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22592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6565392" y="379476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Pravna &amp; </a:t>
            </a:r>
            <a:r>
              <a:rPr lang="en-US" sz="1150" dirty="0" err="1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finansijska</a:t>
            </a:r>
            <a:r>
              <a:rPr lang="sr-Latn-RS" sz="1150" dirty="0"/>
              <a:t> </a:t>
            </a:r>
            <a:r>
              <a:rPr lang="en-US" sz="1150" dirty="0" err="1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pitanja</a:t>
            </a:r>
            <a:r>
              <a:rPr lang="en-US" sz="11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dirty="0" err="1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Kvartalni</a:t>
            </a:r>
            <a:r>
              <a:rPr lang="sr-Latn-RS" sz="11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</a:t>
            </a:r>
            <a:r>
              <a:rPr lang="en-US" sz="1150" dirty="0" err="1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zveštaji</a:t>
            </a:r>
            <a:r>
              <a:rPr lang="en-US" sz="11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sr-Latn-RS" sz="1150" dirty="0">
              <a:solidFill>
                <a:srgbClr val="A8B9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50" dirty="0" err="1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Strategija</a:t>
            </a:r>
            <a:r>
              <a:rPr lang="sr-Latn-RS" sz="11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plan razvoja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 sada? Zašto Srbija?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~120.000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</a:t>
            </a:r>
            <a:r>
              <a:rPr lang="en-US" sz="12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firmi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potencijalnih korisnika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423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2423160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4963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r>
              <a:rPr lang="sr-Latn-R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sr-Latn-R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" y="29535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eFakture postaju </a:t>
            </a:r>
            <a:r>
              <a:rPr lang="en-US" sz="12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obavezne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podaci su </a:t>
            </a:r>
            <a:r>
              <a:rPr lang="en-US" sz="12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već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digitalni</a:t>
            </a:r>
            <a:r>
              <a:rPr lang="sr-Latn-R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već od leta 2026. najavljeno je i uvođenje eO</a:t>
            </a:r>
            <a:r>
              <a:rPr lang="en-US" sz="12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tprem</a:t>
            </a:r>
            <a:r>
              <a:rPr lang="sr-Latn-R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3657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3657600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73075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7200" y="41879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lokalnih AI rešenja </a:t>
            </a:r>
            <a:r>
              <a:rPr lang="en-US" sz="12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koja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domaću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regulativu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188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Savršen momenat</a:t>
            </a:r>
            <a:endParaRPr lang="en-US" sz="18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37944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166360" y="17830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API-ji </a:t>
            </a:r>
            <a:r>
              <a:rPr lang="en-US" sz="12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banaka</a:t>
            </a:r>
            <a:r>
              <a:rPr lang="sr-Latn-R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otvaraju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(PSD2 direktiva u implementaciji)</a:t>
            </a:r>
            <a:endParaRPr lang="en-US" sz="12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615184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66360" y="25603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</a:t>
            </a:r>
            <a:r>
              <a:rPr lang="en-US" sz="12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efekat</a:t>
            </a:r>
            <a:r>
              <a:rPr lang="sr-Latn-R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MSP vlasnici su otvoreni za AI kao </a:t>
            </a:r>
            <a:r>
              <a:rPr lang="en-US" sz="12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nikad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</a:t>
            </a:r>
            <a:r>
              <a:rPr lang="sr-Latn-R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poverenje u AI modele je u porastu.</a:t>
            </a:r>
            <a:endParaRPr lang="en-US" sz="12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392424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66360" y="33375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SEF sistem generiše strukturirane </a:t>
            </a:r>
            <a:r>
              <a:rPr lang="en-US" sz="12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podatke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niko ih ne </a:t>
            </a:r>
            <a:r>
              <a:rPr lang="en-US" sz="12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iskorišćava</a:t>
            </a:r>
            <a:r>
              <a:rPr lang="sr-Latn-R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punoj meri</a:t>
            </a:r>
            <a:endParaRPr lang="en-US" sz="12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169664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66360" y="41148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domaćeg konkurenta koji </a:t>
            </a:r>
            <a:r>
              <a:rPr lang="en-US" sz="12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razume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</a:t>
            </a:r>
            <a:r>
              <a:rPr lang="sr-Latn-R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sr-Latn-R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SEF </a:t>
            </a:r>
            <a:r>
              <a:rPr lang="en-US" sz="12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srpsk</a:t>
            </a:r>
            <a:r>
              <a:rPr lang="sr-Latn-R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zakon</a:t>
            </a:r>
            <a:r>
              <a:rPr lang="sr-Latn-R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 akte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Biznis model &amp; 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Pretplata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</a:t>
            </a:r>
            <a:r>
              <a:rPr lang="en-US" sz="1300" i="1" dirty="0" err="1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pretplata</a:t>
            </a:r>
            <a:r>
              <a:rPr lang="en-US" sz="1300" i="1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300" i="1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i="1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vrednost utemeljena na alternativnom trošku korisnika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651760" cy="3337560"/>
          </a:xfrm>
          <a:prstGeom prst="rect">
            <a:avLst/>
          </a:prstGeom>
          <a:solidFill>
            <a:srgbClr val="1A2E4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16712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29€</a:t>
            </a:r>
            <a:r>
              <a:rPr lang="en-US" sz="14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11480" y="28986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firma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32735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 + eFakture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364845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Osnovni Dashboard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4023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100 transakcija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7472" y="446227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Preduzetnik koji počinje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0" y="1554480"/>
            <a:ext cx="2743200" cy="3429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54680" y="1600200"/>
            <a:ext cx="2651760" cy="3337560"/>
          </a:xfrm>
          <a:prstGeom prst="rect">
            <a:avLst/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54680" y="1600200"/>
            <a:ext cx="26517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54680" y="16184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PREPORUČENO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91840" y="253288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69€</a:t>
            </a:r>
            <a:r>
              <a:rPr lang="en-US" sz="14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291840" y="32644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firma, neograniceno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36027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Kompletan 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394106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(fin.+pravn.)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42793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Prognoza 90 dana +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izve</a:t>
            </a:r>
            <a:r>
              <a:rPr lang="sr-Latn-R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27832" y="446227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5–50 zaposlenih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1600200"/>
            <a:ext cx="2651760" cy="3337560"/>
          </a:xfrm>
          <a:prstGeom prst="rect">
            <a:avLst/>
          </a:prstGeom>
          <a:solidFill>
            <a:srgbClr val="1A2E4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7220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72200" y="216712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199€</a:t>
            </a:r>
            <a:r>
              <a:rPr lang="en-US" sz="14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172200" y="28986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15 firmi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72200" y="32735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opcija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72200" y="364845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podrška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72200" y="4023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pristup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08192" y="446227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Računovođe &amp; </a:t>
            </a:r>
            <a:r>
              <a:rPr lang="en-US" sz="1050" i="1" dirty="0" err="1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</a:t>
            </a:r>
            <a:r>
              <a:rPr lang="sr-Latn-RS" sz="1050" i="1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Alternativni trošak: </a:t>
            </a:r>
            <a:r>
              <a:rPr lang="en-US" sz="110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</a:t>
            </a:r>
            <a:r>
              <a:rPr lang="sr-Latn-R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10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ultant</a:t>
            </a: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~3.200€/god · advokat ~800€/god · propušteni grant ~5.000€+ → Pro plan </a:t>
            </a:r>
            <a:r>
              <a:rPr lang="sr-Latn-R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štedi i do 6</a:t>
            </a: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vrednosti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Fazni plan razvoja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8046720" cy="0"/>
          </a:xfrm>
          <a:prstGeom prst="line">
            <a:avLst/>
          </a:prstGeom>
          <a:noFill/>
          <a:ln w="381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69848" y="2624328"/>
            <a:ext cx="429768" cy="4297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69848" y="262432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18105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</a:t>
            </a:r>
            <a:r>
              <a:rPr lang="sr-Latn-R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Banka (J</a:t>
            </a:r>
            <a:r>
              <a:rPr lang="sr-Latn-RS" sz="11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1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sr-Latn-RS" sz="11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1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55701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eFakture (JSON)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9593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Dashboard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43616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Chatbot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72968" y="2624328"/>
            <a:ext cx="429768" cy="429768"/>
          </a:xfrm>
          <a:prstGeom prst="ellipse">
            <a:avLst/>
          </a:prstGeom>
          <a:solidFill>
            <a:srgbClr val="243B55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0604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Regulativa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06040" y="18105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sr-Latn-R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Q3</a:t>
            </a: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</a:t>
            </a:r>
            <a:r>
              <a:rPr lang="sr-Latn-R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PDF akti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355701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Zakonska baza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06040" y="39593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Pravni Q&amp;A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06040" y="43616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5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Upozorenja</a:t>
            </a:r>
            <a:r>
              <a:rPr lang="sr-Latn-R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markeri</a:t>
            </a:r>
          </a:p>
        </p:txBody>
      </p:sp>
      <p:sp>
        <p:nvSpPr>
          <p:cNvPr id="23" name="Shape 21"/>
          <p:cNvSpPr/>
          <p:nvPr/>
        </p:nvSpPr>
        <p:spPr>
          <a:xfrm>
            <a:off x="5276088" y="2624328"/>
            <a:ext cx="429768" cy="429768"/>
          </a:xfrm>
          <a:prstGeom prst="ellipse">
            <a:avLst/>
          </a:prstGeom>
          <a:solidFill>
            <a:srgbClr val="243B55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Integracije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09160" y="18105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sr-Latn-R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SEF integracija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09160" y="355701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Mejl konektor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09160" y="39593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Grantovi/subvencije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09160" y="43616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Proaktivni agent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379208" y="2624328"/>
            <a:ext cx="429768" cy="429768"/>
          </a:xfrm>
          <a:prstGeom prst="ellipse">
            <a:avLst/>
          </a:prstGeom>
          <a:solidFill>
            <a:srgbClr val="243B55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1228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1228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12280" y="18105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r>
              <a:rPr lang="sr-Latn-R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12280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Multi-kompanija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812280" y="355701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za ERP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812280" y="39593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Računovođe reselleri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812280" y="43616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5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</a:t>
            </a:r>
            <a:r>
              <a:rPr lang="sr-Latn-R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r>
              <a:rPr lang="sr-Latn-R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likacija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6400800" cy="64008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 err="1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</a:t>
            </a:r>
            <a:r>
              <a:rPr lang="en-US" sz="26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preduzetnik</a:t>
            </a:r>
            <a:r>
              <a:rPr lang="en-US" sz="26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zaslužuje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finansijsku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inteligenciju</a:t>
            </a:r>
            <a:r>
              <a:rPr lang="sr-Latn-R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9385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6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danas </a:t>
            </a:r>
            <a:r>
              <a:rPr lang="en-US" sz="2600" dirty="0" err="1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rezervisanu</a:t>
            </a:r>
            <a:r>
              <a:rPr lang="en-US" sz="26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samo za velike korporacije.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0" y="2651760"/>
            <a:ext cx="219456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r>
              <a:rPr lang="sr-Latn-RS" sz="22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AI</a:t>
            </a:r>
            <a:r>
              <a:rPr lang="en-US" sz="22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sr-Latn-RS" sz="22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pruža</a:t>
            </a:r>
            <a:r>
              <a:rPr lang="en-US" sz="22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371600" y="3566160"/>
            <a:ext cx="685800" cy="68580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36910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431596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Finansijska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jasnoća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40480" y="3566160"/>
            <a:ext cx="685800" cy="68580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040" y="36910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431596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Pravna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09360" y="3566160"/>
            <a:ext cx="685800" cy="68580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7720" y="37198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431596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Strateški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920" y="466344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680" y="4681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r>
              <a:rPr lang="sr-Latn-R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AI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565</Words>
  <Application>Microsoft Office PowerPoint</Application>
  <PresentationFormat>On-screen Show (16:9)</PresentationFormat>
  <Paragraphs>127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FinPilot – Pitch Deck</dc:title>
  <dc:subject>PptxGenJS Presentation</dc:subject>
  <dc:creator>PptxGenJS</dc:creator>
  <cp:lastModifiedBy>Стефан Бранковић</cp:lastModifiedBy>
  <cp:revision>19</cp:revision>
  <dcterms:created xsi:type="dcterms:W3CDTF">2026-04-26T08:21:40Z</dcterms:created>
  <dcterms:modified xsi:type="dcterms:W3CDTF">2026-05-04T12:08:04Z</dcterms:modified>
</cp:coreProperties>
</file>